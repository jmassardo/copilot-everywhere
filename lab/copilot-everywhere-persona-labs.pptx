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GitHub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107899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000" b="1">
                <a:solidFill>
                  <a:srgbClr val="F0F6FC"/>
                </a:solidFill>
                <a:latin typeface="Mona Sans Display"/>
              </a:defRPr>
            </a:pPr>
            <a:r>
              <a:t>Copilot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76272"/>
            <a:ext cx="107899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000" b="1">
                <a:solidFill>
                  <a:srgbClr val="5EEC83"/>
                </a:solidFill>
                <a:latin typeface="Mona Sans Display"/>
              </a:defRPr>
            </a:pPr>
            <a:r>
              <a:t>Persona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24612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0">
                <a:solidFill>
                  <a:srgbClr val="B0BAC3"/>
                </a:solidFill>
                <a:latin typeface="Mona Sans"/>
              </a:defRPr>
            </a:pPr>
            <a:r>
              <a:t>Choose one role. Complete one connected workflow. Bring back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4617720"/>
            <a:ext cx="10716768" cy="1115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491947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1">
                <a:solidFill>
                  <a:srgbClr val="BEFFD0"/>
                </a:solidFill>
                <a:latin typeface="Mona Sans"/>
              </a:defRPr>
            </a:pPr>
            <a:r>
              <a:t>90 minutes  /  synthetic Orders Service  /  four persona tracks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THE LAB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This is not a prompt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Each track follows one piece of work from evidence to a defensible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57984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9696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Investigate before increasing autonomy.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2928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99923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Keep independent questions in independent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12464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87705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85876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Delegate only when scope and verification are explicit.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72000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73659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4573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71830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Review at the level your persona actually owns.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23560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742432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A green agent summary is not evidence. Point to the test, diff, plan, criterion, or reconciliation.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SHARED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One Orders Service. Several kinds of uncertainty.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Every track sees the same repository and backlog through a different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84831"/>
            <a:ext cx="5413248" cy="13533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2585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Mona Sans"/>
              </a:defRPr>
            </a:pPr>
            <a: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60320"/>
            <a:ext cx="4919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Cross-customer order exposure escaped green 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84831"/>
            <a:ext cx="5413248" cy="13533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22585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  <a:latin typeface="Mona Sans"/>
              </a:defRPr>
            </a:pPr>
            <a:r>
              <a:t>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560320"/>
            <a:ext cx="4919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Exact boundaries and penny reconciliation disagree.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85031"/>
            <a:ext cx="5413248" cy="13533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8587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4160519"/>
            <a:ext cx="4919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API conventions conflict and refund policy is missing.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85031"/>
            <a:ext cx="5413248" cy="13533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38587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4160519"/>
            <a:ext cx="49194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The replica is slow, inconsistent, and ambiguous.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CHOOSE YOUR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Pick the responsibility you want 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The tracks run in parallel and converge for a shared debrief.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5413248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1762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52374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Parallel investigation, red/green verification, handoff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93392"/>
            <a:ext cx="5413248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762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B870FF"/>
                </a:solidFill>
                <a:latin typeface="Mona Sans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2374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Instructions, custom agents, scoped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5413248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8404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  <a:latin typeface="Mona Sans"/>
              </a:defRPr>
            </a:pPr>
            <a: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187952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Evidence, issue design, delegation, acceptance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413248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38404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F94FF"/>
                </a:solidFill>
                <a:latin typeface="Mona San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187952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0F6FC"/>
                </a:solidFill>
                <a:latin typeface="Mona Sans"/>
              </a:defRPr>
            </a:pPr>
            <a:r>
              <a:t>Read-only analysis, reconciliation, bounded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One connected 90-minute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Setup should be complete before the first exercise whenever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6537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65376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Setup + seating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2368" y="18653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4144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0:10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441448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Exercise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244144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0:25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17520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Exercise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301752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20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9359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0:45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3592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Exercise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59359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6966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169664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Exercise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4169664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4573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1:15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745736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Exercise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474573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10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2180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EEC83"/>
                </a:solidFill>
                <a:latin typeface="Mona Sans"/>
              </a:defRPr>
            </a:pPr>
            <a:r>
              <a:t>1:25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321808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0F6FC"/>
                </a:solidFill>
                <a:latin typeface="Mona Sans"/>
              </a:defRPr>
            </a:pPr>
            <a:r>
              <a:t>Shared debrief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532180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10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OPERATING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Protect the lab before you protect the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These constraints apply to every persona and every Copilot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5798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Work on a branch or fork — never directly on 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71216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03580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01752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Use synthetic data and non-production systems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30752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895344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877056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Start read-only when the problem is not understood.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90288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754879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6402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73659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Do not merge exercise pull requests into the shared baseline.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23560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742432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If the baseline is dirty or surprising, move to the prepared clean branch.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WORKING WITH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Choose the mode that matches the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The same assistant can investigate, implement, or review — but those are different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84831"/>
            <a:ext cx="2587752" cy="21214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31720"/>
            <a:ext cx="2240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F94FF"/>
                </a:solidFill>
                <a:latin typeface="Mona Sans"/>
              </a:defRPr>
            </a:pPr>
            <a:r>
              <a:t>ASK /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89504"/>
            <a:ext cx="2240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Mona Sans"/>
              </a:defRPr>
            </a:pPr>
            <a:r>
              <a:t>Read, trace, compare, cite. No 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084831"/>
            <a:ext cx="2587752" cy="21214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331720"/>
            <a:ext cx="2240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889504"/>
            <a:ext cx="2240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Mona Sans"/>
              </a:defRPr>
            </a:pPr>
            <a:r>
              <a:t>Edit and run commands after the contract is clear.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84831"/>
            <a:ext cx="2587752" cy="21214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331720"/>
            <a:ext cx="2240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B870FF"/>
                </a:solidFill>
                <a:latin typeface="Mona Sans"/>
              </a:defRPr>
            </a:pPr>
            <a:r>
              <a:t>CUSTOM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889504"/>
            <a:ext cx="2240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Mona Sans"/>
              </a:defRPr>
            </a:pPr>
            <a:r>
              <a:t>Add durable role boundaries and stop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2084831"/>
            <a:ext cx="2587752" cy="21214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1" y="2331720"/>
            <a:ext cx="2240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  <a:latin typeface="Mona Sans"/>
              </a:defRPr>
            </a:pPr>
            <a:r>
              <a:t>CLOUD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2889504"/>
            <a:ext cx="22402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0F6FC"/>
                </a:solidFill>
                <a:latin typeface="Mona Sans"/>
              </a:defRPr>
            </a:pPr>
            <a:r>
              <a:t>Run independent, bounded work asynchronously.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266944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385816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Start a fresh session when the job, permissions, or evidence boundary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WHAT EACH TRACK BRINGS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The debrief is artifact-first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Bring one reusable piece of evidence — not a story about how helpful the model felt.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10844784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5798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130552"/>
            <a:ext cx="8522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F0F6FC"/>
                </a:solidFill>
                <a:latin typeface="Mona Sans"/>
              </a:defRPr>
            </a:pPr>
            <a:r>
              <a:t>Ownership regression test + compact handoff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34640"/>
            <a:ext cx="10844784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9923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B870FF"/>
                </a:solidFill>
                <a:latin typeface="Mona Sans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971800"/>
            <a:ext cx="8522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F0F6FC"/>
                </a:solidFill>
                <a:latin typeface="Mona Sans"/>
              </a:defRPr>
            </a:pPr>
            <a:r>
              <a:t>A rule that demonstrably changed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75888"/>
            <a:ext cx="10844784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404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9922"/>
                </a:solidFill>
                <a:latin typeface="Mona Sans"/>
              </a:defRPr>
            </a:pPr>
            <a: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813048"/>
            <a:ext cx="8522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F0F6FC"/>
                </a:solidFill>
                <a:latin typeface="Mona Sans"/>
              </a:defRPr>
            </a:pPr>
            <a:r>
              <a:t>A criterion tied to evidence — or a deliberate stop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17136"/>
            <a:ext cx="10844784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817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F94FF"/>
                </a:solidFill>
                <a:latin typeface="Mona San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654296"/>
            <a:ext cx="8522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F0F6FC"/>
                </a:solidFill>
                <a:latin typeface="Mona Sans"/>
              </a:defRPr>
            </a:pPr>
            <a:r>
              <a:t>A plan change or a question the data cannot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12064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800" b="1">
                <a:solidFill>
                  <a:srgbClr val="5EEC83"/>
                </a:solidFill>
                <a:latin typeface="Mona Sans Display"/>
              </a:defRPr>
            </a:pPr>
            <a:r>
              <a:t>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0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Senior / Staff Engineer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57400"/>
            <a:ext cx="108813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21992"/>
            <a:ext cx="10287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Mona Sans Display"/>
              </a:defRPr>
            </a:pPr>
            <a:r>
              <a:t>How do we fix a serious defect without widening the change?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EEC83"/>
                </a:solidFill>
                <a:latin typeface="Mona Sans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Reproduce + 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1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EEC83"/>
                </a:solidFill>
                <a:latin typeface="Mona Sans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1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Red before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EEC83"/>
                </a:solidFill>
                <a:latin typeface="Mona Sans"/>
              </a:defRPr>
            </a:pPr>
            <a:r>
              <a:t>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Review + hand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Five connected exercises. Preserve each artifact for the next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  /  EXERCISE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Triage with two independent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Reproduce the symptom and assess blast radius without sharing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5EEC83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EEC83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Start a read-only API reproduction session.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Start a separate blast-radius session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Reconcile broad claims against exact call-path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ngineer-02-blast-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API reproduction + missing ownership invariant + bounded blast-radius statement.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Reject edits. Ask which path is proven affected versus merely related.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  /  EXERCISE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Strengthen verification before fixing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Make the ownership invariant fail at the API boundary before authorizing production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5EEC83"/>
                </a:solidFill>
                <a:latin typeface="Mona Sans"/>
              </a:defRPr>
            </a:pPr>
            <a:r>
              <a:t>20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EEC83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Turn the reproduction into a test specification.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Allow test edits only and inspect the focused red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Authorize the smallest predicate fix, then run focused, full, and Ruff.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ngineer-03-red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The failure is customer ownership — not a typo, fixture, or import error.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Do not manufacture red by changing expectations.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  /  EXERCISE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Delegate independent maintenance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Practice asynchronous delegation without blocking incident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5EEC83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Open or create the timezone-aware UTC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Confirm it does not touch the incident files or contract.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Assign the cloud coding agent, record the link, and leave the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Continue incident work instead of polling.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Independent work is running with explicit scope and verification.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Use the prepared timestamp PR if assignment is unavailable.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  /  EXERCISE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Practice an evidence-only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Give a fresh reviewer enough evidence to decide without the full chat transcript.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5EEC83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Assemble reproduction, root cause, red/green test, diff, and remaining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Start a fresh reviewer session with only that packet.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Compare its decision with your own review of the diff.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Remove claims that cannot be traced to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A reviewer can decide scope and correctness from the compact packet.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The handoff should preserve evidence, not conversation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  /  EXERCISE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Review the asynchronous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Review the timestamp change against its own acceptance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5EEC83"/>
                </a:solidFill>
                <a:latin typeface="Mona Sans"/>
              </a:defRPr>
            </a:pPr>
            <a: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5EEC83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Open the live or fallback pull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Map each criterion to diff or check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5EEC83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Confirm timezone-aware UTC, stable API fields, and no unrelated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ngineer-04-green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Leave an accept-or-revise decision grounded in acceptance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Green checks prove mechanics; compatibility still needs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12064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800" b="1">
                <a:solidFill>
                  <a:srgbClr val="B870FF"/>
                </a:solidFill>
                <a:latin typeface="Mona Sans Display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0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Platform / Developer Experience Lead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57400"/>
            <a:ext cx="108813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21992"/>
            <a:ext cx="10287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Mona Sans Display"/>
              </a:defRPr>
            </a:pPr>
            <a:r>
              <a:t>How do we make safe behavior repeatable across future agent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Expose ambiguity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1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1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Encode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Prove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Five connected exercises. Preserve each artifact for the next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PLATFORM  /  EXERCISE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Audit whether the repository is agent-ready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Observe what a normal agent assumes when policy and conventions are incomplete.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B870FF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Ask for a refund endpoint plan without supplying refund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Record every assumption and its repository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Classify conflict, missing policy, and durable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tform-01-refund-assum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A gap list separates what can be encoded from what humans must decide.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For every plausible rule, ask which file or decision establishes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PLATFORM  /  EXERCISE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Write and prove repository-wide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Encode short, durable engineering standards and prove they alter a fresh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B870FF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Create .github/copilot-instructions.md at the repository root.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Keep standards; remove style filler and invented product policy.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Start a fresh session and verify the file is active.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Record one measurable behavior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The file is successful only if a fresh session behaves differently.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Placement matters: repository root, not sample-app/.github.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PLATFORM  /  EXERCISE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Build and test a bounded custom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Define role, permitted scope, verification, and explicit stop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B870FF"/>
                </a:solidFill>
                <a:latin typeface="Mona Sans"/>
              </a:defRPr>
            </a:pPr>
            <a:r>
              <a:t>20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Create the Orders API Maintainer workspace 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Test a missing-decision refund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Test a prohibited dependency / CI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681728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Test a permitted existing-contract test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tform-02-custom-agent-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The same agent stops, refuses, and proceeds for the right reasons.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A long persona description is not a substitute for boundaries.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PLATFORM  /  EXERCISE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Add and verify path-scoped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Apply test-specific practices only when test files are actually in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B870FF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B870FF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Create tests.instructions.md with sample-app/tests/**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Run a focused test-generation task and inspect active context.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B870FF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Run a README-only planning task in a fresh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tform-03-scope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Test guidance activates for tests and stays absent from unrelated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Prove both activation and non-activation.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PLATFORM  /  EXERCISE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Improve the paved road using asynchronous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Use a real pull-request observation to justify one durable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B870FF"/>
                </a:solidFill>
                <a:latin typeface="Mona Sans"/>
              </a:defRPr>
            </a:pPr>
            <a: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Review the timestamp PR through the platform lens.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Identify one recurring gap — not a one-off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Revise the correct customization layer.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Retest the rule and record rollout telemetry.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One evidence-driven improvement is tested and ready for controlled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Reject vague 'be careful' language and policy the platform team does not 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12064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800" b="1">
                <a:solidFill>
                  <a:srgbClr val="D29922"/>
                </a:solidFill>
                <a:latin typeface="Mona Sans Display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0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Product / Dev-Adjacent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57400"/>
            <a:ext cx="108813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21992"/>
            <a:ext cx="10287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Mona Sans Display"/>
              </a:defRPr>
            </a:pPr>
            <a:r>
              <a:t>How do we delegate delivery without delegating product judgment?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  <a:latin typeface="Mona Sans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Map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1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  <a:latin typeface="Mona Sans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1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Separate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  <a:latin typeface="Mona Sans"/>
              </a:defRPr>
            </a:pPr>
            <a:r>
              <a:t>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Accept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Five connected exercises. Preserve each artifact for the next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PRODUCT  /  EXERCISE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Build an evidence-grounded demand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Separate customer problems, requested solutions, technical risks, and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D29922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D29922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Map every FEEDBACK.md source item exactly once.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D29922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Ground each theme in repository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D29922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Verify at least three citations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oduct-01-deman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Every source is represented; reports, code facts, and unknowns stay distinct.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Do not rank yet, and do not merge the penny complaint with exact boundaries.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PRODUCT  /  EXERCISE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Separate objective defects from human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Classify work by whether correct behavior is already knowable and verifiable.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D29922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Classify each theme: objective, product, contract, or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Score impact, urgency, and decision readiness separately.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Add at least one explicit piece of human business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Choose one agent-ready item and one decision item.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The final ranking distinguishes evidence from human judgment.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Demand evidence does not define refund behavior.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PRODUCT  /  EXERCISE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Write one delegatable issue and one decision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Make the two issue types intentionally different.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D29922"/>
                </a:solidFill>
                <a:latin typeface="Mona Sans"/>
              </a:defRPr>
            </a:pPr>
            <a:r>
              <a:t>20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Draft the exact discount-boundary defect with six observable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Audit it for hidden decisions and scope creep.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Draft a refund decision issue with owners and open questions.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Keep implementation explicitly blocked.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One issue can be tested now; the other organizes a decision without pretending it is made.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The lab teaches issue quality, not backlog volume.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PRODUCT  /  EXERCISE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Delegate without waiting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Send objective work asynchronously and continue useful human-owned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D29922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Perform the final readiness check on the boundary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Assign only the objective defect to the cloud agent.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Improve the refund decision record while delivery runs.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Check status once near the 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Objective work is running; the unresolved decision remains human-owned.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If the task is not ready, use the prepared PR — do not spend the lab polling.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PRODUCT  /  EXERCISE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Accept or reject against customer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Review the live or fallback pull request as a product owner, not a Python reviewer.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D29922"/>
                </a:solidFill>
                <a:latin typeface="Mona Sans"/>
              </a:defRPr>
            </a:pPr>
            <a: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9922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D29922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Read issue, summary, changed files, checks, then acceptance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D29922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Verify all six threshold outcomes and protected non-goals.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D29922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Leave an accept-or-revise decision with missing evidence named.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oduct-02-acceptance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Every acceptance criterion maps to observable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Do not approve because the agent says all criteria pass.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12064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800" b="1">
                <a:solidFill>
                  <a:srgbClr val="2F94FF"/>
                </a:solidFill>
                <a:latin typeface="Mona Sans Display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63040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DBA / Analytics Engineer / Data Scientist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057400"/>
            <a:ext cx="10881360" cy="1234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21992"/>
            <a:ext cx="10287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  <a:latin typeface="Mona Sans Display"/>
              </a:defRPr>
            </a:pPr>
            <a:r>
              <a:t>How do we make one defensible change without hiding data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Enforce read-only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1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1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Reconcile +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379476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FINISH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40965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0F6FC"/>
                </a:solidFill>
                <a:latin typeface="Mona Sans"/>
              </a:defRPr>
            </a:pPr>
            <a:r>
              <a:t>Stop at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0BAC3"/>
                </a:solidFill>
                <a:latin typeface="Mona Sans"/>
              </a:defRPr>
            </a:pPr>
            <a:r>
              <a:t>Five connected exercises. Preserve each artifact for the next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DATA  /  EXERCISE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Establish a read-only investigation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Prove the session can inspect the replica without modifying schema or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F94FF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Set PRAGMA query_only = ON and verify it returns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Allow only SELECT, PRAGMA, and EXPLAIN QUERY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Deliberately attempt CREATE INDEX and observe the write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Review each risk with evidence, query, result, and limitation.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The write guard is demonstrated and the evidence table remains read-only.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A failed write is the successful safety demonstration.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DATA  /  EXERCISE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F0F6FC"/>
                </a:solidFill>
                <a:latin typeface="Mona Sans Display"/>
              </a:defRPr>
            </a:pPr>
            <a:r>
              <a:t>Run independent quality and performance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10881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Prevent one plausible symptom from becoming an unsupported explanation for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F94FF"/>
                </a:solidFill>
                <a:latin typeface="Mona Sans"/>
              </a:defRPr>
            </a:pPr>
            <a:r>
              <a:t>20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29968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17627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Start a data-quality session with row-count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80944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2724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Start a separate query-performance session with the unchanged dashboard query.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0565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7822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Confirm the automatic covering index manually.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82896"/>
            <a:ext cx="10991088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5663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Compare reports without merging their causal stories.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806440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Two independent reports: quality counts and plan evidence; no data 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Ask for the query that connects two symptoms before accepting causation.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DATA  /  EXERCISE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Build reconciliation before allowing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Create one repeatable control row before any database write.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F94FF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Use scalar subqueries for counts and orphan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Compute order dollars directly from orders — no fan-out joins.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Run the identical statement twice and record units and limitations.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01-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Two identical one-row baselines are ready for the write-capable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The baseline detects selected changes; it does not prove every row is correct.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DATA  /  EXERCISE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Make one bounded performance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Approve only the index supported by the captured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F94FF"/>
                </a:solidFill>
                <a:latin typeface="Mona Sans"/>
              </a:defRPr>
            </a:pPr>
            <a:r>
              <a:t>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Re-run reconciliation and stop if it differs.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Create only idx_orders_customer_id.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Re-run the unchanged query plan and reconciliation.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681728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Compare timing without requiring a fixed speedup.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-02-query-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The named index replaces the automatic index and every control is unchanged.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Reject speculative indexes, cleanup, constraints, or query rewrites.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DATA  /  EXERCISE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Write the decision memo the data requires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Stop when stored columns cannot distinguish meaning for every affected 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310896"/>
            <a:ext cx="1335024" cy="329184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347472"/>
            <a:ext cx="13350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F94FF"/>
                </a:solidFill>
                <a:latin typeface="Mona Sans"/>
              </a:defRPr>
            </a:pPr>
            <a: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93392"/>
            <a:ext cx="4590288" cy="34015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F94FF"/>
                </a:solidFill>
                <a:latin typeface="Mona Sans"/>
              </a:defRPr>
            </a:pPr>
            <a: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Investigate NULL discount correlations without turning them into 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55263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55263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Identify the missing provenance field.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68496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68496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Name the pipeline owner and proposed future contract.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292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F94FF"/>
                </a:solidFill>
                <a:latin typeface="Mona Sans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681728"/>
            <a:ext cx="36576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F0F6FC"/>
                </a:solidFill>
                <a:latin typeface="Mona Sans"/>
              </a:defRPr>
            </a:pPr>
            <a:r>
              <a:t>Document unsafe analyses and restore the disposable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3248" y="1993392"/>
            <a:ext cx="6172200" cy="340156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-03-semantic-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4" y="2029968"/>
            <a:ext cx="5260007" cy="332841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4360" y="5559552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678424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Unknown meaning, human owner, and required contract change are explicit.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36208"/>
            <a:ext cx="10744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FACILITATOR CUE  Ask which stored field records why the value is NULL.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FALLBACK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Preserve the exercise — not the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The capture package replaces unavailable execution, not participant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57984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9696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State the capability or timing limit plainly.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2928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99923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Open the matching saved capture or prepared pull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12464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877056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85876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Keep the participant in the reviewer / decision-maker role.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72000"/>
            <a:ext cx="10991088" cy="74980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73659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45736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71830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Ask what the evidence proves, what it cannot prove, and what happens next.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23560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742432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Do not let participants spend lab time polling or debugging unrelated setup.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SHARED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Bring one artifact. Explain one autonomy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The tracks are different; the reasoning pattern should be recognizable.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56231"/>
            <a:ext cx="10991088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020824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9967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002536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Which session or agent did you choose first — and why?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06039"/>
            <a:ext cx="10991088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770632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79775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752344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What ran concurrently without creating merge or reasoning conflict?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355848"/>
            <a:ext cx="10991088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520440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502152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What evidence let you increase autonomy?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05656"/>
            <a:ext cx="10991088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270248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251960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Where did the agent need to stop for a human decision?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55464"/>
            <a:ext cx="10991088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5020055"/>
            <a:ext cx="475488" cy="475488"/>
          </a:xfrm>
          <a:prstGeom prst="roundRect">
            <a:avLst/>
          </a:prstGeom>
          <a:solidFill>
            <a:srgbClr val="5EEC83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Mona San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01768"/>
            <a:ext cx="9738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F0F6FC"/>
                </a:solidFill>
                <a:latin typeface="Mona Sans"/>
              </a:defRPr>
            </a:pPr>
            <a:r>
              <a:t>Which artifact would your team reuse on Monday?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ARTIFACT GALLERY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Mona Sans Display"/>
              </a:defRPr>
            </a:pPr>
            <a:r>
              <a:t>Show the work, not the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B0BAC3"/>
                </a:solidFill>
                <a:latin typeface="Mona Sans"/>
              </a:defRPr>
            </a:pPr>
            <a:r>
              <a:t>Each artifact should make a future decision cheaper.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78608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39572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EEC83"/>
                </a:solidFill>
                <a:latin typeface="Mona Sans"/>
              </a:defRPr>
            </a:pPr>
            <a:r>
              <a:t>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26080"/>
            <a:ext cx="22128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F0F6FC"/>
                </a:solidFill>
                <a:latin typeface="Mona Sans"/>
              </a:defRPr>
            </a:pPr>
            <a:r>
              <a:t>Test + handoff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148840"/>
            <a:ext cx="2578608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8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39572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B870FF"/>
                </a:solidFill>
                <a:latin typeface="Mona Sans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926080"/>
            <a:ext cx="22128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F0F6FC"/>
                </a:solidFill>
                <a:latin typeface="Mona Sans"/>
              </a:defRPr>
            </a:pPr>
            <a:r>
              <a:t>Instruction +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148840"/>
            <a:ext cx="2578608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39572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9922"/>
                </a:solidFill>
                <a:latin typeface="Mona Sans"/>
              </a:defRPr>
            </a:pPr>
            <a: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926080"/>
            <a:ext cx="22128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F0F6FC"/>
                </a:solidFill>
                <a:latin typeface="Mona Sans"/>
              </a:defRPr>
            </a:pPr>
            <a:r>
              <a:t>Criterion +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2148840"/>
            <a:ext cx="2578608" cy="2240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F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239572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F94FF"/>
                </a:solidFill>
                <a:latin typeface="Mona San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2926080"/>
            <a:ext cx="22128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F0F6FC"/>
                </a:solidFill>
                <a:latin typeface="Mona Sans"/>
              </a:defRPr>
            </a:pPr>
            <a:r>
              <a:t>Plan or semantic stop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074920"/>
            <a:ext cx="10991088" cy="566928"/>
          </a:xfrm>
          <a:prstGeom prst="roundRect">
            <a:avLst/>
          </a:prstGeom>
          <a:solidFill>
            <a:srgbClr val="20262C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193792"/>
            <a:ext cx="105887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5EEC83"/>
                </a:solidFill>
                <a:latin typeface="Mona Sans"/>
              </a:defRPr>
            </a:pPr>
            <a:r>
              <a:t>CHECKPOINT  Reusable evidence is the bridge from a successful lab to a better operating system.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4800" b="1">
                <a:solidFill>
                  <a:srgbClr val="F0F6FC"/>
                </a:solidFill>
                <a:latin typeface="Mona Sans Display"/>
              </a:defRPr>
            </a:pPr>
            <a:r>
              <a:t>Route the 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93392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4800" b="1">
                <a:solidFill>
                  <a:srgbClr val="F0F6FC"/>
                </a:solidFill>
                <a:latin typeface="Mona Sans Display"/>
              </a:defRPr>
            </a:pPr>
            <a:r>
              <a:t>Make the context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44368"/>
            <a:ext cx="10835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4000" b="1">
                <a:solidFill>
                  <a:srgbClr val="5EEC83"/>
                </a:solidFill>
                <a:latin typeface="Mona Sans Display"/>
              </a:defRPr>
            </a:pPr>
            <a:r>
              <a:t>Increase autonomy only when verification gets cheaper.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38528" y="4754880"/>
            <a:ext cx="8321040" cy="84124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EE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974336"/>
            <a:ext cx="79918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>
                <a:solidFill>
                  <a:srgbClr val="BEFFD0"/>
                </a:solidFill>
                <a:latin typeface="Mona Sans"/>
              </a:defRPr>
            </a:pPr>
            <a:r>
              <a:t>Now choose a track and start with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GitHub Copilot  /  Persona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B0BAC3"/>
                </a:solidFill>
                <a:latin typeface="Mona San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Everywhere — Persona Labs</dc:title>
  <dc:subject>Facilitator walkthrough for the persona labs</dc:subject>
  <dc:creator>Jenna Massardo</dc:creator>
  <cp:keywords>GitHub Copilot, labs, personas, facilitator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